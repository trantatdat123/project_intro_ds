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e4cfa5f61d4bb7" /><Relationship Type="http://schemas.openxmlformats.org/officeDocument/2006/relationships/extended-properties" Target="/docProps/app.xml" Id="R4057c37b26f34280" /><Relationship Type="http://schemas.openxmlformats.org/officeDocument/2006/relationships/officeDocument" Target="/ppt/presentation.xml" Id="R84c2535703f146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5de1c86cd04403"/>
  </p:sldMasterIdLst>
  <p:notesMasterIdLst>
    <p:notesMasterId xmlns:r="http://schemas.openxmlformats.org/officeDocument/2006/relationships" r:id="R846f2b25afe84fba"/>
  </p:notesMasterIdLst>
  <p:sldIdLst>
    <p:sldId xmlns:r="http://schemas.openxmlformats.org/officeDocument/2006/relationships" id="256" r:id="R902c48b5bcc34884"/>
    <p:sldId xmlns:r="http://schemas.openxmlformats.org/officeDocument/2006/relationships" id="257" r:id="Rca69adb2c24d4678"/>
    <p:sldId xmlns:r="http://schemas.openxmlformats.org/officeDocument/2006/relationships" id="258" r:id="R0307a4e0ab9f4a24"/>
    <p:sldId xmlns:r="http://schemas.openxmlformats.org/officeDocument/2006/relationships" id="259" r:id="Raa56d4720d6b496f"/>
    <p:sldId xmlns:r="http://schemas.openxmlformats.org/officeDocument/2006/relationships" id="260" r:id="Re12ca55f36284fd9"/>
    <p:sldId xmlns:r="http://schemas.openxmlformats.org/officeDocument/2006/relationships" id="261" r:id="R3c581a709b644add"/>
    <p:sldId xmlns:r="http://schemas.openxmlformats.org/officeDocument/2006/relationships" id="262" r:id="R783b16252c1f47e2"/>
    <p:sldId xmlns:r="http://schemas.openxmlformats.org/officeDocument/2006/relationships" id="263" r:id="R7d72eaca1ebe4bf5"/>
    <p:sldId xmlns:r="http://schemas.openxmlformats.org/officeDocument/2006/relationships" id="264" r:id="Rc04e3e265dbf4cff"/>
    <p:sldId xmlns:r="http://schemas.openxmlformats.org/officeDocument/2006/relationships" id="265" r:id="Rdc86ec1a506b4deb"/>
    <p:sldId xmlns:r="http://schemas.openxmlformats.org/officeDocument/2006/relationships" id="266" r:id="R8826e82464c44ee0"/>
    <p:sldId xmlns:r="http://schemas.openxmlformats.org/officeDocument/2006/relationships" id="267" r:id="R098ef714e0014685"/>
    <p:sldId xmlns:r="http://schemas.openxmlformats.org/officeDocument/2006/relationships" id="268" r:id="R81aebc6223fd4f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9dd27086ea4d67" /><Relationship Type="http://schemas.openxmlformats.org/officeDocument/2006/relationships/slideMaster" Target="/ppt/slideMasters/slideMaster1.xml" Id="R7a5de1c86cd04403" /><Relationship Type="http://schemas.openxmlformats.org/officeDocument/2006/relationships/notesMaster" Target="/ppt/notesMasters/notesMaster1.xml" Id="R846f2b25afe84fba" /><Relationship Type="http://schemas.openxmlformats.org/officeDocument/2006/relationships/presProps" Target="/ppt/presProps.xml" Id="R5a128fd8ea77446a" /><Relationship Type="http://schemas.openxmlformats.org/officeDocument/2006/relationships/tableStyles" Target="/ppt/tableStyles.xml" Id="R1885e1b765574d9a" /><Relationship Type="http://schemas.openxmlformats.org/officeDocument/2006/relationships/slide" Target="/ppt/slides/slide1.xml" Id="R902c48b5bcc34884" /><Relationship Type="http://schemas.openxmlformats.org/officeDocument/2006/relationships/slide" Target="/ppt/slides/slide2.xml" Id="Rca69adb2c24d4678" /><Relationship Type="http://schemas.openxmlformats.org/officeDocument/2006/relationships/slide" Target="/ppt/slides/slide3.xml" Id="R0307a4e0ab9f4a24" /><Relationship Type="http://schemas.openxmlformats.org/officeDocument/2006/relationships/slide" Target="/ppt/slides/slide4.xml" Id="Raa56d4720d6b496f" /><Relationship Type="http://schemas.openxmlformats.org/officeDocument/2006/relationships/slide" Target="/ppt/slides/slide5.xml" Id="Re12ca55f36284fd9" /><Relationship Type="http://schemas.openxmlformats.org/officeDocument/2006/relationships/slide" Target="/ppt/slides/slide6.xml" Id="R3c581a709b644add" /><Relationship Type="http://schemas.openxmlformats.org/officeDocument/2006/relationships/slide" Target="/ppt/slides/slide7.xml" Id="R783b16252c1f47e2" /><Relationship Type="http://schemas.openxmlformats.org/officeDocument/2006/relationships/slide" Target="/ppt/slides/slide8.xml" Id="R7d72eaca1ebe4bf5" /><Relationship Type="http://schemas.openxmlformats.org/officeDocument/2006/relationships/slide" Target="/ppt/slides/slide9.xml" Id="Rc04e3e265dbf4cff" /><Relationship Type="http://schemas.openxmlformats.org/officeDocument/2006/relationships/slide" Target="/ppt/slides/slide10.xml" Id="Rdc86ec1a506b4deb" /><Relationship Type="http://schemas.openxmlformats.org/officeDocument/2006/relationships/slide" Target="/ppt/slides/slide11.xml" Id="R8826e82464c44ee0" /><Relationship Type="http://schemas.openxmlformats.org/officeDocument/2006/relationships/slide" Target="/ppt/slides/slide12.xml" Id="R098ef714e0014685" /><Relationship Type="http://schemas.openxmlformats.org/officeDocument/2006/relationships/slide" Target="/ppt/slides/slide13.xml" Id="R81aebc6223fd4f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f5ec51c2747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b1dd9fd3f40bc" /><Relationship Type="http://schemas.openxmlformats.org/officeDocument/2006/relationships/notesMaster" Target="/ppt/notesMasters/notesMaster1.xml" Id="R5480141b70ed44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1445cc558442e4" /><Relationship Type="http://schemas.openxmlformats.org/officeDocument/2006/relationships/notesMaster" Target="/ppt/notesMasters/notesMaster1.xml" Id="R8ed32d25f61f4c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c550a54cc5486e" /><Relationship Type="http://schemas.openxmlformats.org/officeDocument/2006/relationships/notesMaster" Target="/ppt/notesMasters/notesMaster1.xml" Id="R660b1522cb474a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084b6eb86b4005" /><Relationship Type="http://schemas.openxmlformats.org/officeDocument/2006/relationships/notesMaster" Target="/ppt/notesMasters/notesMaster1.xml" Id="R6de9544cf14745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15e811e3f24a61" /><Relationship Type="http://schemas.openxmlformats.org/officeDocument/2006/relationships/notesMaster" Target="/ppt/notesMasters/notesMaster1.xml" Id="Raa827737187d47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80f27af795422d" /><Relationship Type="http://schemas.openxmlformats.org/officeDocument/2006/relationships/notesMaster" Target="/ppt/notesMasters/notesMaster1.xml" Id="R94ce8d035a4442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f12c5c49884841" /><Relationship Type="http://schemas.openxmlformats.org/officeDocument/2006/relationships/notesMaster" Target="/ppt/notesMasters/notesMaster1.xml" Id="Rfd042b19fb2d4e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6f9d47d7cb4466" /><Relationship Type="http://schemas.openxmlformats.org/officeDocument/2006/relationships/notesMaster" Target="/ppt/notesMasters/notesMaster1.xml" Id="R0a645c9d4f1545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1c2b3ee27445d2" /><Relationship Type="http://schemas.openxmlformats.org/officeDocument/2006/relationships/notesMaster" Target="/ppt/notesMasters/notesMaster1.xml" Id="R2fcbca6d1bf547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ebed9d2f1d4381" /><Relationship Type="http://schemas.openxmlformats.org/officeDocument/2006/relationships/notesMaster" Target="/ppt/notesMasters/notesMaster1.xml" Id="Rea5213bbfb4842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b7ed1392ac4673" /><Relationship Type="http://schemas.openxmlformats.org/officeDocument/2006/relationships/notesMaster" Target="/ppt/notesMasters/notesMaster1.xml" Id="Rd55618dc9fbc45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f23e8e96004ea1" /><Relationship Type="http://schemas.openxmlformats.org/officeDocument/2006/relationships/notesMaster" Target="/ppt/notesMasters/notesMaster1.xml" Id="R3cb3c5ed967a49d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c5e25be5164091" /><Relationship Type="http://schemas.openxmlformats.org/officeDocument/2006/relationships/notesMaster" Target="/ppt/notesMasters/notesMaster1.xml" Id="Ra1db3e1ae01742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dữ liệu TinixAI, https://huggingface.co/datasets/tinixai/vietnamese-job-descriptions. Phân tích bộ dữ liệu title đã lọc, không phải khảo sát toàn thị trường.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https://huggingface.co/datasets/tinixai/vietnamese-job-descriptions; data/processed/tinixai_it_ai_data_jobs.metadata.json; reports/data_quality.json. CC BY-NC 4.0. Tỷ giá USD là giả định cấu hình.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reports/tables/year_distribution.csv. year là năm được dataset cung cấp, không có ngày/tháng.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reports/tables/role_distribution.csv; src/preprocessing/role_normalizer.py. Other gồm nghề ngoài 5 nhóm và title nhiều nhóm/mơ hồ.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reports/tables/skill_frequency.csv. Mỗi kỹ năng chỉ đếm tối đa một lần trong JD. FlashText có ranh giới từ Unicode; dữ liệu lấy từ mô tả/yêu cầu.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reports/tables/salary_by_role.csv. Tất cả midpoint hợp lệ trong dữ liệu, không cắt theo quantile. USD quy đổi 25500 VND/USD, giả định cố định. Cỡ mẫu hiện trên nhãn.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src/models/splitting.py; reports/classification_metrics.json; reports/salary_metrics.json. GroupShuffleSplit seed 42; khoảng 60/20/20 số công 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reports/classification_metrics.json. Model chọn tfidf_svm bằng validation macro-F1. Baseline là lớp phổ biến trên train. Không dùng title trong đầu vào classifier.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reports/salary_metrics.json. Chọn lightgbm theo validation MAE. Học log1p(midpoint). Cắt đuôi train bằng quantile học từ train; giữ nguyên validation/test.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reports/salary_shap_importance.csv. Tree SHAP của lightgbm, tối đa 150 mẫu test; thang log1p(lương).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reports/skill_centrality.csv; reports/clustering_metrics.json. Ngưỡng kỹ năng 50 tin, cạnh 20 tin; weighted degree là tổng count cạnh.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reports/clustering_metrics.json; configs/pipeline.json. Sentence model https://huggingface.co/sentence-transformers/paraphrase-multilingual-MiniLM-L12-v2. Embedding 384 chiều, chuẩn hóa, UMAP 15 chiều; seed 42. Silhouette trong không gian UMAP, HDBSCAN loại noise khi tính.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quả của lượt chạy trên 14034 tin TinixAI. Nguồn: reports/project_report.md, classification_metrics.json, salary_metrics.json, clustering_metrics.json.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6ab632408147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6c707261b42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d9cd44fe46462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c76929bac4c9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1cbbba9d0849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928a1a6ca4e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7A15A0-D74B-40C2-9B68-277E235C63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C9F87F-3DD7-4633-A658-6CCAB3351D6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0F5C07-4935-43CC-B004-2B2A9D845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936916-8F19-4633-BE22-4021A58A2B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CA8429-8D81-45C7-AD7F-ABC9E1F0A9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F846903-56F9-4A0B-9148-825C2700DF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8668A3-8576-4787-B770-04595DF9F5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AADAC0-2742-4ADE-A79D-6D980807CD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35CC79-C20F-4D60-B26B-D7A08934B7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6466DA-D611-4EF4-B29E-57C9992C39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bf24714b45455b" /><Relationship Type="http://schemas.openxmlformats.org/officeDocument/2006/relationships/slideLayout" Target="/ppt/slideLayouts/slideLayout1.xml" Id="R1bee0864dd2f40c4" /><Relationship Type="http://schemas.openxmlformats.org/officeDocument/2006/relationships/slideLayout" Target="/ppt/slideLayouts/slideLayout2.xml" Id="R5c35941a0a894f09" /><Relationship Type="http://schemas.openxmlformats.org/officeDocument/2006/relationships/slideLayout" Target="/ppt/slideLayouts/slideLayout3.xml" Id="R1534f02e8ccc4891" /><Relationship Type="http://schemas.openxmlformats.org/officeDocument/2006/relationships/slideLayout" Target="/ppt/slideLayouts/slideLayout4.xml" Id="R1e2c062f0e174580" /><Relationship Type="http://schemas.openxmlformats.org/officeDocument/2006/relationships/slideLayout" Target="/ppt/slideLayouts/slideLayout5.xml" Id="R65207779e9194654" /><Relationship Type="http://schemas.openxmlformats.org/officeDocument/2006/relationships/slideLayout" Target="/ppt/slideLayouts/slideLayout6.xml" Id="R6e488e1d865d43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ee0864dd2f40c4"/>
    <p:sldLayoutId xmlns:r="http://schemas.openxmlformats.org/officeDocument/2006/relationships" id="2147483650" r:id="R5c35941a0a894f09"/>
    <p:sldLayoutId xmlns:r="http://schemas.openxmlformats.org/officeDocument/2006/relationships" id="2147483651" r:id="R1534f02e8ccc4891"/>
    <p:sldLayoutId xmlns:r="http://schemas.openxmlformats.org/officeDocument/2006/relationships" id="2147483652" r:id="R1e2c062f0e174580"/>
    <p:sldLayoutId xmlns:r="http://schemas.openxmlformats.org/officeDocument/2006/relationships" id="2147483653" r:id="R65207779e9194654"/>
    <p:sldLayoutId xmlns:r="http://schemas.openxmlformats.org/officeDocument/2006/relationships" id="2147483654" r:id="R6e488e1d865d43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fcad5c494d4aa1" /><Relationship Type="http://schemas.openxmlformats.org/officeDocument/2006/relationships/notesSlide" Target="/ppt/notesSlides/notesSlide1.xml" Id="R4fc12cf0280245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1e0051c3346ab" /><Relationship Type="http://schemas.openxmlformats.org/officeDocument/2006/relationships/notesSlide" Target="/ppt/notesSlides/notesSlide2.xml" Id="R5e491371998f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3ea6e807f74937" /><Relationship Type="http://schemas.openxmlformats.org/officeDocument/2006/relationships/chart" Target="/ppt/slides/charts/chart1.xml" Id="R184cb7273cc9439a" /><Relationship Type="http://schemas.openxmlformats.org/officeDocument/2006/relationships/notesSlide" Target="/ppt/notesSlides/notesSlide3.xml" Id="R4c6bd884bba749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0937dd83a407f" /><Relationship Type="http://schemas.openxmlformats.org/officeDocument/2006/relationships/chart" Target="/ppt/slides/charts/chart2.xml" Id="R0f066bd902ee4605" /><Relationship Type="http://schemas.openxmlformats.org/officeDocument/2006/relationships/notesSlide" Target="/ppt/notesSlides/notesSlide4.xml" Id="R0a4bfa6ce844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6c95aa1fbe4ec6" /><Relationship Type="http://schemas.openxmlformats.org/officeDocument/2006/relationships/chart" Target="/ppt/slides/charts/chart3.xml" Id="R4de644cb0d854ee2" /><Relationship Type="http://schemas.openxmlformats.org/officeDocument/2006/relationships/notesSlide" Target="/ppt/notesSlides/notesSlide5.xml" Id="Rde114704f16f44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cf7d205c1b4afa" /><Relationship Type="http://schemas.openxmlformats.org/officeDocument/2006/relationships/chart" Target="/ppt/slides/charts/chart4.xml" Id="R3f4de9a0da174b16" /><Relationship Type="http://schemas.openxmlformats.org/officeDocument/2006/relationships/notesSlide" Target="/ppt/notesSlides/notesSlide6.xml" Id="Rd2a72e59f82f4f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ad9cf0e814ec8" /><Relationship Type="http://schemas.openxmlformats.org/officeDocument/2006/relationships/notesSlide" Target="/ppt/notesSlides/notesSlide7.xml" Id="R8006de567ca840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8e785d81f54101" /><Relationship Type="http://schemas.openxmlformats.org/officeDocument/2006/relationships/chart" Target="/ppt/slides/charts/chart5.xml" Id="R5daea3e5fa634e89" /><Relationship Type="http://schemas.openxmlformats.org/officeDocument/2006/relationships/notesSlide" Target="/ppt/notesSlides/notesSlide8.xml" Id="Rdd0db226c0a147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3eb322d154ff7" /><Relationship Type="http://schemas.openxmlformats.org/officeDocument/2006/relationships/chart" Target="/ppt/slides/charts/chart6.xml" Id="R90c5dde8fbc145b6" /><Relationship Type="http://schemas.openxmlformats.org/officeDocument/2006/relationships/notesSlide" Target="/ppt/notesSlides/notesSlide9.xml" Id="Rf5623897466242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91534c6f884a14" /><Relationship Type="http://schemas.openxmlformats.org/officeDocument/2006/relationships/chart" Target="/ppt/slides/charts/chart7.xml" Id="Rf9e289c53e434284" /><Relationship Type="http://schemas.openxmlformats.org/officeDocument/2006/relationships/notesSlide" Target="/ppt/notesSlides/notesSlide10.xml" Id="R2bae27d9062345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0668fc23a4e1d" /><Relationship Type="http://schemas.openxmlformats.org/officeDocument/2006/relationships/chart" Target="/ppt/slides/charts/chart8.xml" Id="R5cb6020a7f49439d" /><Relationship Type="http://schemas.openxmlformats.org/officeDocument/2006/relationships/notesSlide" Target="/ppt/notesSlides/notesSlide11.xml" Id="R496104615c9b43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777f76842e4b75" /><Relationship Type="http://schemas.openxmlformats.org/officeDocument/2006/relationships/notesSlide" Target="/ppt/notesSlides/notesSlide12.xml" Id="R45260fbf47244b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af1323447461e" /><Relationship Type="http://schemas.openxmlformats.org/officeDocument/2006/relationships/notesSlide" Target="/ppt/notesSlides/notesSlide13.xml" Id="R63291e421eed42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Số tin</c:v>
          </c:tx>
          <c:spPr>
            <a:solidFill xmlns:a="http://schemas.openxmlformats.org/drawingml/2006/main">
              <a:srgbClr val="176B87"/>
            </a:solidFill>
          </c:spPr>
          <c:cat>
            <c:numRef>
              <c:f>'Chart Data'!$A$2:$A$6</c:f>
              <c:numCache>
                <c:formatCode>General</c:formatCod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numCache>
            </c:num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2219</c:v>
                </c:pt>
                <c:pt idx="1">
                  <c:v>2428</c:v>
                </c:pt>
                <c:pt idx="2">
                  <c:v>2453</c:v>
                </c:pt>
                <c:pt idx="3">
                  <c:v>4178</c:v>
                </c:pt>
                <c:pt idx="4">
                  <c:v>2756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Số tin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Data'!$A$2:$A$7</c:f>
              <c:strCache>
                <c:ptCount val="6"/>
                <c:pt idx="0">
                  <c:v>Other</c:v>
                </c:pt>
                <c:pt idx="1">
                  <c:v>Software</c:v>
                </c:pt>
                <c:pt idx="2">
                  <c:v>Data Analyst</c:v>
                </c:pt>
                <c:pt idx="3">
                  <c:v>AI/ML</c:v>
                </c:pt>
                <c:pt idx="4">
                  <c:v>Data Engineer</c:v>
                </c:pt>
                <c:pt idx="5">
                  <c:v>Data Scientist</c:v>
                </c:pt>
              </c:strCache>
            </c:strRef>
          </c:cat>
          <c:val>
            <c:numRef>
              <c:f>'Chart Data'!$B$2:$B$7</c:f>
              <c:numCache>
                <c:formatCode>#,##0</c:formatCode>
                <c:ptCount val="6"/>
                <c:pt idx="0">
                  <c:v>8682</c:v>
                </c:pt>
                <c:pt idx="1">
                  <c:v>4271</c:v>
                </c:pt>
                <c:pt idx="2">
                  <c:v>550</c:v>
                </c:pt>
                <c:pt idx="3">
                  <c:v>259</c:v>
                </c:pt>
                <c:pt idx="4">
                  <c:v>175</c:v>
                </c:pt>
                <c:pt idx="5">
                  <c:v>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Số JD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Data'!$A$2:$A$9</c:f>
              <c:strCache>
                <c:ptCount val="8"/>
                <c:pt idx="0">
                  <c:v>JavaScript</c:v>
                </c:pt>
                <c:pt idx="1">
                  <c:v>SQL</c:v>
                </c:pt>
                <c:pt idx="2">
                  <c:v>Python</c:v>
                </c:pt>
                <c:pt idx="3">
                  <c:v>HTML</c:v>
                </c:pt>
                <c:pt idx="4">
                  <c:v>CSS</c:v>
                </c:pt>
                <c:pt idx="5">
                  <c:v>Git</c:v>
                </c:pt>
                <c:pt idx="6">
                  <c:v>MySQL</c:v>
                </c:pt>
                <c:pt idx="7">
                  <c:v>Java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2062</c:v>
                </c:pt>
                <c:pt idx="1">
                  <c:v>2037</c:v>
                </c:pt>
                <c:pt idx="2">
                  <c:v>1822</c:v>
                </c:pt>
                <c:pt idx="3">
                  <c:v>1748</c:v>
                </c:pt>
                <c:pt idx="4">
                  <c:v>1729</c:v>
                </c:pt>
                <c:pt idx="5">
                  <c:v>1684</c:v>
                </c:pt>
                <c:pt idx="6">
                  <c:v>1548</c:v>
                </c:pt>
                <c:pt idx="7">
                  <c:v>1440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Triệu VND/tháng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Data'!$A$2:$A$6</c:f>
              <c:strCache>
                <c:ptCount val="5"/>
                <c:pt idx="0">
                  <c:v>AI/ML (n=150)</c:v>
                </c:pt>
                <c:pt idx="1">
                  <c:v>Data Analyst (n=379)</c:v>
                </c:pt>
                <c:pt idx="2">
                  <c:v>Data Engineer (n=95)</c:v>
                </c:pt>
                <c:pt idx="3">
                  <c:v>Data Scientist (n=29)</c:v>
                </c:pt>
                <c:pt idx="4">
                  <c:v>Software (n=3384)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30</c:v>
                </c:pt>
                <c:pt idx="1">
                  <c:v>16</c:v>
                </c:pt>
                <c:pt idx="2">
                  <c:v>24</c:v>
                </c:pt>
                <c:pt idx="3">
                  <c:v>30</c:v>
                </c:pt>
                <c:pt idx="4">
                  <c:v>17.5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Data'!$A$2:$A$4</c:f>
              <c:strCache>
                <c:ptCount val="3"/>
                <c:pt idx="0">
                  <c:v>logistic</c:v>
                </c:pt>
                <c:pt idx="1">
                  <c:v>svm</c:v>
                </c:pt>
                <c:pt idx="2">
                  <c:v>mlp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0.742012</c:v>
                </c:pt>
                <c:pt idx="1">
                  <c:v>0.750958</c:v>
                </c:pt>
                <c:pt idx="2">
                  <c:v>0.677674</c:v>
                </c:pt>
              </c:numCache>
            </c:numRef>
          </c:val>
        </c:ser>
        <c:ser>
          <c:idx val="1"/>
          <c:order val="1"/>
          <c:tx>
            <c:v>Test</c:v>
          </c:tx>
          <c:spPr>
            <a:solidFill xmlns:a="http://schemas.openxmlformats.org/drawingml/2006/main">
              <a:srgbClr val="359F87"/>
            </a:solidFill>
          </c:spPr>
          <c:cat>
            <c:strRef>
              <c:f>'Chart Data'!$C$2:$C$4</c:f>
              <c:strCache>
                <c:ptCount val="3"/>
                <c:pt idx="0">
                  <c:v>logistic</c:v>
                </c:pt>
                <c:pt idx="1">
                  <c:v>svm</c:v>
                </c:pt>
                <c:pt idx="2">
                  <c:v>mlp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0.843948</c:v>
                </c:pt>
                <c:pt idx="1">
                  <c:v>0.839098</c:v>
                </c:pt>
                <c:pt idx="2">
                  <c:v>0.749171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304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 MAE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Data'!$A$2:$A$4</c:f>
              <c:strCache>
                <c:ptCount val="3"/>
                <c:pt idx="0">
                  <c:v>LightGBM</c:v>
                </c:pt>
                <c:pt idx="1">
                  <c:v>Random Forest</c:v>
                </c:pt>
                <c:pt idx="2">
                  <c:v>Ridge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7.413559</c:v>
                </c:pt>
                <c:pt idx="1">
                  <c:v>7.57364</c:v>
                </c:pt>
                <c:pt idx="2">
                  <c:v>7.799381</c:v>
                </c:pt>
              </c:numCache>
            </c:numRef>
          </c:val>
        </c:ser>
        <c:ser>
          <c:idx val="1"/>
          <c:order val="1"/>
          <c:tx>
            <c:v>Test MAE</c:v>
          </c:tx>
          <c:spPr>
            <a:solidFill xmlns:a="http://schemas.openxmlformats.org/drawingml/2006/main">
              <a:srgbClr val="359F87"/>
            </a:solidFill>
          </c:spPr>
          <c:cat>
            <c:strRef>
              <c:f>'Chart Data'!$C$2:$C$4</c:f>
              <c:strCache>
                <c:ptCount val="3"/>
                <c:pt idx="0">
                  <c:v>LightGBM</c:v>
                </c:pt>
                <c:pt idx="1">
                  <c:v>Random Forest</c:v>
                </c:pt>
                <c:pt idx="2">
                  <c:v>Ridge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6.119001</c:v>
                </c:pt>
                <c:pt idx="1">
                  <c:v>6.276459</c:v>
                </c:pt>
                <c:pt idx="2">
                  <c:v>6.373577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304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|SHAP|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Data'!$A$2:$A$9</c:f>
              <c:strCache>
                <c:ptCount val="8"/>
                <c:pt idx="0">
                  <c:v>Seniority: Junior</c:v>
                </c:pt>
                <c:pt idx="1">
                  <c:v>Kinh nghiệm tối thiểu</c:v>
                </c:pt>
                <c:pt idx="2">
                  <c:v>Số kỹ năng</c:v>
                </c:pt>
                <c:pt idx="3">
                  <c:v>Seniority: chưa xác định</c:v>
                </c:pt>
                <c:pt idx="4">
                  <c:v>Vị trí: Nhân viên</c:v>
                </c:pt>
                <c:pt idx="5">
                  <c:v>Thiếu kinh nghiệm</c:v>
                </c:pt>
                <c:pt idx="6">
                  <c:v>Địa điểm: Hà Nội</c:v>
                </c:pt>
                <c:pt idx="7">
                  <c:v>Năm</c:v>
                </c:pt>
              </c:strCache>
            </c:strRef>
          </c:cat>
          <c:val>
            <c:numRef>
              <c:f>'Chart Data'!$B$2:$B$9</c:f>
              <c:numCache>
                <c:formatCode>0.000</c:formatCode>
                <c:ptCount val="8"/>
                <c:pt idx="0">
                  <c:v>0.166629</c:v>
                </c:pt>
                <c:pt idx="1">
                  <c:v>0.106513</c:v>
                </c:pt>
                <c:pt idx="2">
                  <c:v>0.070812</c:v>
                </c:pt>
                <c:pt idx="3">
                  <c:v>0.065272</c:v>
                </c:pt>
                <c:pt idx="4">
                  <c:v>0.044785</c:v>
                </c:pt>
                <c:pt idx="5">
                  <c:v>0.03956</c:v>
                </c:pt>
                <c:pt idx="6">
                  <c:v>0.038084</c:v>
                </c:pt>
                <c:pt idx="7">
                  <c:v>0.035455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Tổng count cạnh</c:v>
          </c:tx>
          <c:spPr>
            <a:solidFill xmlns:a="http://schemas.openxmlformats.org/drawingml/2006/main">
              <a:srgbClr val="176B87"/>
            </a:solidFill>
          </c:spPr>
          <c:cat>
            <c:strRef>
              <c:f>'Chart Data'!$A$2:$A$9</c:f>
              <c:strCache>
                <c:ptCount val="8"/>
                <c:pt idx="0">
                  <c:v>JavaScript</c:v>
                </c:pt>
                <c:pt idx="1">
                  <c:v>Git</c:v>
                </c:pt>
                <c:pt idx="2">
                  <c:v>Python</c:v>
                </c:pt>
                <c:pt idx="3">
                  <c:v>MySQL</c:v>
                </c:pt>
                <c:pt idx="4">
                  <c:v>SQL</c:v>
                </c:pt>
                <c:pt idx="5">
                  <c:v>CSS</c:v>
                </c:pt>
                <c:pt idx="6">
                  <c:v>HTML</c:v>
                </c:pt>
                <c:pt idx="7">
                  <c:v>REST API</c:v>
                </c:pt>
              </c:strCache>
            </c:strRef>
          </c:cat>
          <c:val>
            <c:numRef>
              <c:f>'Chart Data'!$B$2:$B$9</c:f>
              <c:numCache>
                <c:formatCode>#,##0</c:formatCode>
                <c:ptCount val="8"/>
                <c:pt idx="0">
                  <c:v>19667</c:v>
                </c:pt>
                <c:pt idx="1">
                  <c:v>19237</c:v>
                </c:pt>
                <c:pt idx="2">
                  <c:v>17659</c:v>
                </c:pt>
                <c:pt idx="3">
                  <c:v>17483</c:v>
                </c:pt>
                <c:pt idx="4">
                  <c:v>17423</c:v>
                </c:pt>
                <c:pt idx="5">
                  <c:v>16930</c:v>
                </c:pt>
                <c:pt idx="6">
                  <c:v>16688</c:v>
                </c:pt>
                <c:pt idx="7">
                  <c:v>16182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5304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B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107EB-581E-4AE8-B3A6-6EC9B1AC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JobLens Vietnam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FEE6C-DA81-4BC2-8030-BDABA3FE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3044"/>
                </a:solidFill>
                <a:latin typeface="Arial"/>
                <a:ea typeface="Arial"/>
                <a:cs typeface="Arial"/>
              </a:rPr>
              <a:t>Tin tuyển dụng IT, AI và Data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3DA54-6C94-4D27-B77C-D39B0304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Dự án Introduction to Data Science</a:t>
            </a:r>
          </a:p>
        </p:txBody>
      </p:sp>
    </p:spTree>
    <p:extLst>
      <p:ext uri="{BB962C8B-B14F-4D97-AF65-F5344CB8AC3E}">
        <p14:creationId xmlns:p14="http://schemas.microsoft.com/office/powerpoint/2010/main" val="13569042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B3451-7EC4-40F8-A7A8-C850792A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Dữ liệu và phạm vi phân tích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AFDB3-A4A2-41E3-807F-F1A406DBFFE6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2000250"/>
                <a:gridCol w="34861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Bước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tin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Mục đích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TinixAI raw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606.878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Nguồn 2022–2026</a:t>
                      </a:r>
                    </a:p>
                  </a:txBody>
                  <a:tcPr marL="133350" marR="133350" marT="95250" marB="9525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Title IT/AI/Data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14.034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EDA + phân cụm</a:t>
                      </a:r>
                    </a:p>
                  </a:txBody>
                  <a:tcPr marL="133350" marR="133350" marT="95250" marB="9525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Một trong 5 nghề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5.352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Phân loại nghề</a:t>
                      </a:r>
                    </a:p>
                  </a:txBody>
                  <a:tcPr marL="133350" marR="133350" marT="95250" marB="95250" anchor="ctr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Nghề đơn + midpoint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4.037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Hồi quy lương</a:t>
                      </a:r>
                    </a:p>
                  </a:txBody>
                  <a:tcPr marL="133350" marR="133350" marT="95250" marB="95250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7C11-953C-4CB7-B5DF-75071E19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Bộ lọc dựa trên title. Những tin thiếu lương hoặc nhãn nghề đơn có thể tạo sai lệch chọn mẫu.</a:t>
            </a:r>
          </a:p>
        </p:txBody>
      </p:sp>
    </p:spTree>
    <p:extLst>
      <p:ext uri="{BB962C8B-B14F-4D97-AF65-F5344CB8AC3E}">
        <p14:creationId xmlns:p14="http://schemas.microsoft.com/office/powerpoint/2010/main" val="8856257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5020D-E538-4378-B596-A70D1B6B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Phân bố năm trong bộ dữ liệu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E153FFA2-4B81-4EA1-8159-392BEA35AA79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4cb7273cc9439a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050BB-E9CA-460F-A2C5-988FFE61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Số dòng phụ thuộc độ phủ nguồn và tin đăng lại; năm 2026 có thể chưa đủ cả năm.</a:t>
            </a:r>
          </a:p>
        </p:txBody>
      </p:sp>
    </p:spTree>
    <p:extLst>
      <p:ext uri="{BB962C8B-B14F-4D97-AF65-F5344CB8AC3E}">
        <p14:creationId xmlns:p14="http://schemas.microsoft.com/office/powerpoint/2010/main" val="161609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4AC9F-8CC2-49E1-86BC-683A44DF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Nhóm nghề từ quy tắc title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EF27F47-E196-4F7C-9C08-2AD9839196F0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066bd902ee4605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A800C-2C32-407E-B442-1BBBDC65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5.352 tin có nhãn đơn. Nhãn từ title cần được kiểm định bằng người gán nhãn.</a:t>
            </a:r>
          </a:p>
        </p:txBody>
      </p:sp>
    </p:spTree>
    <p:extLst>
      <p:ext uri="{BB962C8B-B14F-4D97-AF65-F5344CB8AC3E}">
        <p14:creationId xmlns:p14="http://schemas.microsoft.com/office/powerpoint/2010/main" val="18009358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20FB6-AF95-48F2-8F3E-13BAE8EE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Kỹ năng được đề cập nhiều nhất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F0FD430-1963-4E8A-BAD6-A43A374FC021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e644cb0d854ee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7D48A-8D3B-434B-8A49-230964B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Việc đề cập chưa phân biệt kỹ năng bắt buộc, ưu tiên hoặc phủ định.</a:t>
            </a:r>
          </a:p>
        </p:txBody>
      </p:sp>
    </p:spTree>
    <p:extLst>
      <p:ext uri="{BB962C8B-B14F-4D97-AF65-F5344CB8AC3E}">
        <p14:creationId xmlns:p14="http://schemas.microsoft.com/office/powerpoint/2010/main" val="17386633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BFAF6-6D5D-4819-9B49-03DADFAB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Trung vị midpoint lương theo nghề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8DDA22F-AB32-4F44-B6FA-F5FE85961752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4de9a0da174b1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FD6E8-D1C2-4C5A-8F31-47C8E806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Đơn vị: triệu VND/tháng. Chưa điều chỉnh gross/net và lạm phát; đây là lương niêm yết.</a:t>
            </a:r>
          </a:p>
        </p:txBody>
      </p:sp>
    </p:spTree>
    <p:extLst>
      <p:ext uri="{BB962C8B-B14F-4D97-AF65-F5344CB8AC3E}">
        <p14:creationId xmlns:p14="http://schemas.microsoft.com/office/powerpoint/2010/main" val="6307141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E3D13-1EF1-41F1-AEF7-C6A661AB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Đánh giá trên các công ty được giữ lại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61F2E-E092-4AD9-9248-8E20E0508090}"/>
              </a:ext>
            </a:extLst>
          </p:cNvPr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2076450"/>
                <a:gridCol w="2076450"/>
                <a:gridCol w="2095500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Bài toán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Phân loại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3.139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1.224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989</a:t>
                      </a:r>
                    </a:p>
                  </a:txBody>
                  <a:tcPr marL="133350" marR="133350" marT="95250" marB="95250" anchor="ctr"/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Lương sau lọc train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2.312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939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742</a:t>
                      </a:r>
                    </a:p>
                  </a:txBody>
                  <a:tcPr marL="133350" marR="133350" marT="95250" marB="95250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F07CC-C67A-4D27-8CF5-48155C1F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4"/>
                </a:solidFill>
                <a:latin typeface="Arial"/>
                <a:ea typeface="Arial"/>
                <a:cs typeface="Arial"/>
              </a:rPr>
              <a:t>TF-IDF, imputer, encoder và vocabulary model chỉ fit trên 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9BA7C-A0D9-4E3B-9DBD-512B1AAC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Chọn model bằng validation; test dùng để báo cáo.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92B96-09CF-4324-AB32-91AED49B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Chia theo nhóm công ty để giảm trùng JD giữa tập; alias tên công ty vẫn cần chuẩn hóa thêm.</a:t>
            </a:r>
          </a:p>
        </p:txBody>
      </p:sp>
    </p:spTree>
    <p:extLst>
      <p:ext uri="{BB962C8B-B14F-4D97-AF65-F5344CB8AC3E}">
        <p14:creationId xmlns:p14="http://schemas.microsoft.com/office/powerpoint/2010/main" val="350775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2ACB3-5A17-4BC9-B3B9-30C7B80D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Phân loại nghề: TF-IDF + LinearSVC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0D2C927-3720-4C6D-A4DC-63B154063955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aea3e5fa634e89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50063-3E8C-44EF-95FA-3A9506D4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Macro-F1 test: 0.839  ·  Baseline: 0.179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ACCB7-FF21-479C-AE11-F78861AB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F1 đo mức khớp nhãn từ quy tắc title; chưa phải độ chính xác so với nhãn chuyên gia.</a:t>
            </a:r>
          </a:p>
        </p:txBody>
      </p:sp>
    </p:spTree>
    <p:extLst>
      <p:ext uri="{BB962C8B-B14F-4D97-AF65-F5344CB8AC3E}">
        <p14:creationId xmlns:p14="http://schemas.microsoft.com/office/powerpoint/2010/main" val="14975359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73036-FFBC-41D8-AC2E-6F2184BB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Dự đoán midpoint lương: LightGBM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93E408BB-7789-4522-B040-1F35B015DA48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c5dde8fbc145b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B27F8-70CF-4CAA-B87A-12FF35A8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Test: MAE 6.12 triệu  ·  R² 0.387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C6B6C-0D91-4645-B3A9-A54583C8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Baseline trung vị train: MAE 8.19 triệu VND/tháng. Cột biểu diễn MAE, càng thấp càng tốt.</a:t>
            </a:r>
          </a:p>
        </p:txBody>
      </p:sp>
    </p:spTree>
    <p:extLst>
      <p:ext uri="{BB962C8B-B14F-4D97-AF65-F5344CB8AC3E}">
        <p14:creationId xmlns:p14="http://schemas.microsoft.com/office/powerpoint/2010/main" val="10795123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8F0E7-1D37-4A3C-BDCC-D0EBBD9F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Các đặc trưng ảnh hưởng trong mô hình lương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A4830D8-90B5-4077-B85C-6CADA9F9146B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4114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e289c53e434284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09376-3C62-4021-A8DB-03497959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Mean |SHAP| ở thang log1p(lương). Không diễn giải thành mức tăng lương nhân quả của kỹ năng.</a:t>
            </a:r>
          </a:p>
        </p:txBody>
      </p:sp>
    </p:spTree>
    <p:extLst>
      <p:ext uri="{BB962C8B-B14F-4D97-AF65-F5344CB8AC3E}">
        <p14:creationId xmlns:p14="http://schemas.microsoft.com/office/powerpoint/2010/main" val="6008167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36A3C-2B14-4FC2-837C-C835F54E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Mạng đồng xuất hiện kỹ năng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A55504F-42C0-4450-9C8B-97A0C29E53CF}"/>
              </a:ext>
            </a:extLst>
          </p:cNvPr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108204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b6020a7f49439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BF2D4-4A73-4D7C-A648-2D8324B1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171 kỹ năng  ·  3.437 cạnh  ·  2 thành phần liên thông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676F2-56C4-43F3-A250-C535565A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Cột: tổng count cạnh (weighted degree). Đồng xuất hiện chưa chứng minh phụ thuộc kỹ thuật.</a:t>
            </a:r>
          </a:p>
        </p:txBody>
      </p:sp>
    </p:spTree>
    <p:extLst>
      <p:ext uri="{BB962C8B-B14F-4D97-AF65-F5344CB8AC3E}">
        <p14:creationId xmlns:p14="http://schemas.microsoft.com/office/powerpoint/2010/main" val="515916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66DB2-96A2-4E9F-8286-7D0C6493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Phân cụm nội dung JD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5364D-2EF9-428A-8640-ED69B29B4C83}"/>
              </a:ext>
            </a:extLst>
          </p:cNvPr>
          <p:cNvGraphicFramePr/>
          <p:nvPr/>
        </p:nvGraphicFramePr>
        <p:xfrm>
          <a:off xmlns:a="http://schemas.openxmlformats.org/drawingml/2006/main" x="685800" y="1657350"/>
          <a:ext xmlns:a="http://schemas.openxmlformats.org/drawingml/2006/main" cx="10820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762125"/>
                <a:gridCol w="2000250"/>
                <a:gridCol w="2390775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Phương pháp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Số cụm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Noise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Silhouette</a:t>
                      </a:r>
                    </a:p>
                  </a:txBody>
                  <a:tcPr marL="133350" marR="133350" marT="95250" marB="95250" anchor="ctr">
                    <a:solidFill>
                      <a:srgbClr val="176B8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UMAP + KMeans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0.482</a:t>
                      </a:r>
                    </a:p>
                  </a:txBody>
                  <a:tcPr marL="133350" marR="133350" marT="95250" marB="95250" anchor="ctr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UMAP + HDBSCAN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44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5.060</a:t>
                      </a:r>
                    </a:p>
                  </a:txBody>
                  <a:tcPr marL="133350" marR="133350" marT="95250" marB="95250" anchor="ctr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53044"/>
                          </a:solidFill>
                          <a:latin typeface="Arial"/>
                          <a:ea typeface="Arial"/>
                          <a:cs typeface="Arial"/>
                        </a:rPr>
                        <a:t>0.528</a:t>
                      </a:r>
                    </a:p>
                  </a:txBody>
                  <a:tcPr marL="133350" marR="133350" marT="95250" marB="95250" anchor="ctr"/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5B6CA-9269-41FB-986E-6A7B8871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Đọc title và JD trong từng cụm trước khi đặt tên.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803F8-A001-40BE-9153-5F784324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044"/>
                </a:solidFill>
                <a:latin typeface="Arial"/>
                <a:ea typeface="Arial"/>
                <a:cs typeface="Arial"/>
              </a:rPr>
              <a:t>Cụm mô tả cấu trúc nội dung; chưa phải nhãn nghề đã kiểm định.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0C528-F649-474B-8801-A6A2CBFE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Embedding cắt JD ở 256 token; silhouette của hai phương pháp không dùng cùng tập điểm khi có noise.</a:t>
            </a:r>
          </a:p>
        </p:txBody>
      </p:sp>
    </p:spTree>
    <p:extLst>
      <p:ext uri="{BB962C8B-B14F-4D97-AF65-F5344CB8AC3E}">
        <p14:creationId xmlns:p14="http://schemas.microsoft.com/office/powerpoint/2010/main" val="1740800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14D8A-5A9F-42B7-B51B-A21F33A70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53044"/>
                </a:solidFill>
                <a:latin typeface="Arial"/>
                <a:ea typeface="Arial"/>
                <a:cs typeface="Arial"/>
              </a:rPr>
              <a:t>Kết luận và bước tiếp theo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BBA40-44A9-477F-BC1F-C2165641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LinearSVC đạt macro-F1 0.839 với nhãn title sơ bộ.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9F5C3-A67B-4B38-8BAE-5435C7B2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B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6B87"/>
                </a:solidFill>
                <a:latin typeface="Arial"/>
                <a:ea typeface="Arial"/>
                <a:cs typeface="Arial"/>
              </a:rPr>
              <a:t>LightGBM có MAE 6.12 triệu VND/tháng trên test.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C4B5D-49B4-4BA0-B9CD-514B7401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044"/>
                </a:solidFill>
                <a:latin typeface="Arial"/>
                <a:ea typeface="Arial"/>
                <a:cs typeface="Arial"/>
              </a:rPr>
              <a:t>Bổ sung nhãn thủ công, chuẩn hóa công ty và đánh giá theo năm.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32605-92FF-4675-9CE5-6DEA5ED6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30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53044"/>
                </a:solidFill>
                <a:latin typeface="Arial"/>
                <a:ea typeface="Arial"/>
                <a:cs typeface="Arial"/>
              </a:rPr>
              <a:t>Chạy lại pipeline: python main.py --stage 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1AC83-A2F1-44BF-9219-4A3C8CAF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4B63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B6373"/>
                </a:solidFill>
                <a:latin typeface="Arial"/>
                <a:ea typeface="Arial"/>
                <a:cs typeface="Arial"/>
              </a:rPr>
              <a:t>Báo cáo, notebook và artifacts có trong project; giới hạn nguồn và quy đổi lương cần được giữ khi trình bày.</a:t>
            </a:r>
          </a:p>
        </p:txBody>
      </p:sp>
    </p:spTree>
    <p:extLst>
      <p:ext uri="{BB962C8B-B14F-4D97-AF65-F5344CB8AC3E}">
        <p14:creationId xmlns:p14="http://schemas.microsoft.com/office/powerpoint/2010/main" val="1406228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2026-10-03T18:23:28.8840000Z</dcterms:created>
  <dcterms:modified xsi:type="dcterms:W3CDTF">2026-10-03T18:23:28.8840000Z</dcterms:modified>
</coreProperties>
</file>